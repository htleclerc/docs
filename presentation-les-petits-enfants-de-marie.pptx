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F3C7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149840" y="-1463040"/>
            <a:ext cx="4023360" cy="4023360"/>
          </a:xfrm>
          <a:prstGeom prst="ellipse">
            <a:avLst/>
          </a:prstGeom>
          <a:solidFill>
            <a:srgbClr val="242E63"/>
          </a:solidFill>
          <a:ln/>
        </p:spPr>
      </p:sp>
      <p:sp>
        <p:nvSpPr>
          <p:cNvPr id="3" name="Shape 1"/>
          <p:cNvSpPr/>
          <p:nvPr/>
        </p:nvSpPr>
        <p:spPr>
          <a:xfrm>
            <a:off x="-1645920" y="4846320"/>
            <a:ext cx="4206240" cy="4206240"/>
          </a:xfrm>
          <a:prstGeom prst="ellipse">
            <a:avLst/>
          </a:prstGeom>
          <a:solidFill>
            <a:srgbClr val="242E63"/>
          </a:solidFill>
          <a:ln/>
        </p:spPr>
      </p:sp>
      <p:sp>
        <p:nvSpPr>
          <p:cNvPr id="4" name="Shape 2"/>
          <p:cNvSpPr/>
          <p:nvPr/>
        </p:nvSpPr>
        <p:spPr>
          <a:xfrm>
            <a:off x="5541264" y="777240"/>
            <a:ext cx="1097280" cy="1097280"/>
          </a:xfrm>
          <a:prstGeom prst="ellipse">
            <a:avLst/>
          </a:prstGeom>
          <a:solidFill>
            <a:srgbClr val="F96167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26557" y="1062533"/>
            <a:ext cx="526694" cy="52669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0080" y="2057400"/>
            <a:ext cx="1090879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LES PETITS ENFANTS DE MARIE</a:t>
            </a:r>
            <a:endParaRPr lang="en-US" sz="4400" dirty="0"/>
          </a:p>
        </p:txBody>
      </p:sp>
      <p:sp>
        <p:nvSpPr>
          <p:cNvPr id="7" name="Text 4"/>
          <p:cNvSpPr/>
          <p:nvPr/>
        </p:nvSpPr>
        <p:spPr>
          <a:xfrm>
            <a:off x="640080" y="3063240"/>
            <a:ext cx="1090879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F9E79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« Chaque enfant mérite de grandir avec l’espoir d’un avenir meilleur. »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640080" y="5120640"/>
            <a:ext cx="1090879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9CF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Présentation de l’association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Ariane Orou Gabe — Fondatrice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Qui suis-je ?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640080" y="1417320"/>
            <a:ext cx="612648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 m’appelle </a:t>
            </a:r>
            <a:pPr indent="0" marL="0">
              <a:buNone/>
            </a:pPr>
            <a:r>
              <a:rPr lang="en-US" sz="16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Ariane Orou Gabe</a:t>
            </a:r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française d’origine béninoise.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Depuis mon enfance, la souffrance des enfants m’a toujours bouleversée : un enfant privé de nourriture, ou contraint d’abandonner l’école faute de moyens. À mon niveau, je partageais ce que j’avais avec eux.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désir d’aider n’a jamais cessé de grandir, car je suis convaincue que chacun peut contribuer à construire un monde plus juste, où la solidarité dépasse les frontières.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7406640" y="1234440"/>
            <a:ext cx="4114800" cy="1554480"/>
          </a:xfrm>
          <a:prstGeom prst="roundRect">
            <a:avLst>
              <a:gd name="adj" fmla="val 7059"/>
            </a:avLst>
          </a:prstGeom>
          <a:solidFill>
            <a:srgbClr val="F4F5FA"/>
          </a:solidFill>
          <a:ln/>
          <a:effectLst>
            <a:outerShdw sx="100000" sy="100000" kx="0" ky="0" algn="bl" rotWithShape="0" blurRad="76200" dist="25400" dir="5400000">
              <a:srgbClr val="AAAAAA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680960" y="1600200"/>
            <a:ext cx="822960" cy="822960"/>
          </a:xfrm>
          <a:prstGeom prst="ellipse">
            <a:avLst/>
          </a:prstGeom>
          <a:solidFill>
            <a:srgbClr val="2F3C7E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94930" y="1814170"/>
            <a:ext cx="395021" cy="395021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686800" y="1527048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Ingénieure</a:t>
            </a:r>
            <a:endParaRPr lang="en-US" sz="1900" dirty="0"/>
          </a:p>
        </p:txBody>
      </p:sp>
      <p:sp>
        <p:nvSpPr>
          <p:cNvPr id="8" name="Text 5"/>
          <p:cNvSpPr/>
          <p:nvPr/>
        </p:nvSpPr>
        <p:spPr>
          <a:xfrm>
            <a:off x="8686800" y="201168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travaux publics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7406640" y="3017520"/>
            <a:ext cx="4114800" cy="1554480"/>
          </a:xfrm>
          <a:prstGeom prst="roundRect">
            <a:avLst>
              <a:gd name="adj" fmla="val 7059"/>
            </a:avLst>
          </a:prstGeom>
          <a:solidFill>
            <a:srgbClr val="F4F5FA"/>
          </a:solidFill>
          <a:ln/>
          <a:effectLst>
            <a:outerShdw sx="100000" sy="100000" kx="0" ky="0" algn="bl" rotWithShape="0" blurRad="76200" dist="25400" dir="5400000">
              <a:srgbClr val="AAAAAA">
                <a:alpha val="3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7680960" y="3383280"/>
            <a:ext cx="822960" cy="822960"/>
          </a:xfrm>
          <a:prstGeom prst="ellipse">
            <a:avLst/>
          </a:prstGeom>
          <a:solidFill>
            <a:srgbClr val="F96167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94930" y="3597250"/>
            <a:ext cx="395021" cy="395021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8686800" y="3310128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France – Bénin</a:t>
            </a:r>
            <a:endParaRPr lang="en-US" sz="1900" dirty="0"/>
          </a:p>
        </p:txBody>
      </p:sp>
      <p:sp>
        <p:nvSpPr>
          <p:cNvPr id="13" name="Text 9"/>
          <p:cNvSpPr/>
          <p:nvPr/>
        </p:nvSpPr>
        <p:spPr>
          <a:xfrm>
            <a:off x="8686800" y="379476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cœur sur deux continents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7406640" y="4800600"/>
            <a:ext cx="4114800" cy="1554480"/>
          </a:xfrm>
          <a:prstGeom prst="roundRect">
            <a:avLst>
              <a:gd name="adj" fmla="val 7059"/>
            </a:avLst>
          </a:prstGeom>
          <a:solidFill>
            <a:srgbClr val="F4F5FA"/>
          </a:solidFill>
          <a:ln/>
          <a:effectLst>
            <a:outerShdw sx="100000" sy="100000" kx="0" ky="0" algn="bl" rotWithShape="0" blurRad="76200" dist="25400" dir="5400000">
              <a:srgbClr val="AAAAAA">
                <a:alpha val="3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7680960" y="5166360"/>
            <a:ext cx="822960" cy="822960"/>
          </a:xfrm>
          <a:prstGeom prst="ellipse">
            <a:avLst/>
          </a:prstGeom>
          <a:solidFill>
            <a:srgbClr val="2F3C7E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94930" y="5380330"/>
            <a:ext cx="395021" cy="395021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686800" y="5093208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Fondatrice</a:t>
            </a:r>
            <a:endParaRPr lang="en-US" sz="1900" dirty="0"/>
          </a:p>
        </p:txBody>
      </p:sp>
      <p:sp>
        <p:nvSpPr>
          <p:cNvPr id="18" name="Text 13"/>
          <p:cNvSpPr/>
          <p:nvPr/>
        </p:nvSpPr>
        <p:spPr>
          <a:xfrm>
            <a:off x="8686800" y="557784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l’association depuis 2022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Comment est née l’association</a:t>
            </a:r>
            <a:endParaRPr lang="en-US" sz="3800" dirty="0"/>
          </a:p>
        </p:txBody>
      </p:sp>
      <p:sp>
        <p:nvSpPr>
          <p:cNvPr id="3" name="Shape 1"/>
          <p:cNvSpPr/>
          <p:nvPr/>
        </p:nvSpPr>
        <p:spPr>
          <a:xfrm>
            <a:off x="640080" y="1920240"/>
            <a:ext cx="2606040" cy="3291840"/>
          </a:xfrm>
          <a:prstGeom prst="roundRect">
            <a:avLst>
              <a:gd name="adj" fmla="val 4211"/>
            </a:avLst>
          </a:prstGeom>
          <a:solidFill>
            <a:srgbClr val="F4F5FA"/>
          </a:solidFill>
          <a:ln/>
          <a:effectLst>
            <a:outerShdw sx="100000" sy="100000" kx="0" ky="0" algn="bl" rotWithShape="0" blurRad="76200" dist="25400" dir="5400000">
              <a:srgbClr val="AAAAAA">
                <a:alpha val="3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868680" y="2148840"/>
            <a:ext cx="594360" cy="59436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214884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868680" y="2880360"/>
            <a:ext cx="2148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Les premiers pas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868680" y="3566160"/>
            <a:ext cx="2148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Ingénieure en travaux publics, je consacre une partie de mon salaire aux enfants défavorisés du Bénin, notamment deux orphelinats.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474720" y="1920240"/>
            <a:ext cx="2606040" cy="3291840"/>
          </a:xfrm>
          <a:prstGeom prst="roundRect">
            <a:avLst>
              <a:gd name="adj" fmla="val 4211"/>
            </a:avLst>
          </a:prstGeom>
          <a:solidFill>
            <a:srgbClr val="F4F5FA"/>
          </a:solidFill>
          <a:ln/>
          <a:effectLst>
            <a:outerShdw sx="100000" sy="100000" kx="0" ky="0" algn="bl" rotWithShape="0" blurRad="76200" dist="25400" dir="5400000">
              <a:srgbClr val="AAAAAA">
                <a:alpha val="3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703320" y="2148840"/>
            <a:ext cx="594360" cy="59436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10" name="Text 8"/>
          <p:cNvSpPr/>
          <p:nvPr/>
        </p:nvSpPr>
        <p:spPr>
          <a:xfrm>
            <a:off x="3703320" y="214884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3703320" y="2880360"/>
            <a:ext cx="2148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Les demandes grandissent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3703320" y="3566160"/>
            <a:ext cx="2148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Avec le temps, les besoins se multiplient : mon aide personnelle ne suffit plus.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309360" y="1920240"/>
            <a:ext cx="2606040" cy="3291840"/>
          </a:xfrm>
          <a:prstGeom prst="roundRect">
            <a:avLst>
              <a:gd name="adj" fmla="val 4211"/>
            </a:avLst>
          </a:prstGeom>
          <a:solidFill>
            <a:srgbClr val="F4F5FA"/>
          </a:solidFill>
          <a:ln/>
          <a:effectLst>
            <a:outerShdw sx="100000" sy="100000" kx="0" ky="0" algn="bl" rotWithShape="0" blurRad="76200" dist="25400" dir="5400000">
              <a:srgbClr val="AAAAAA">
                <a:alpha val="3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537960" y="2148840"/>
            <a:ext cx="594360" cy="59436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15" name="Text 13"/>
          <p:cNvSpPr/>
          <p:nvPr/>
        </p:nvSpPr>
        <p:spPr>
          <a:xfrm>
            <a:off x="6537960" y="214884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6537960" y="2880360"/>
            <a:ext cx="2148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Une première collecte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6537960" y="3566160"/>
            <a:ext cx="2148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 lance une collecte en ligne. La mobilisation est faible, mais la conviction est là : il faut une véritable association.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9144000" y="1920240"/>
            <a:ext cx="2606040" cy="3291840"/>
          </a:xfrm>
          <a:prstGeom prst="roundRect">
            <a:avLst>
              <a:gd name="adj" fmla="val 4211"/>
            </a:avLst>
          </a:prstGeom>
          <a:solidFill>
            <a:srgbClr val="2F3C7E"/>
          </a:solidFill>
          <a:ln/>
          <a:effectLst>
            <a:outerShdw sx="100000" sy="100000" kx="0" ky="0" algn="bl" rotWithShape="0" blurRad="76200" dist="25400" dir="5400000">
              <a:srgbClr val="AAAAAA">
                <a:alpha val="3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9372600" y="2148840"/>
            <a:ext cx="594360" cy="594360"/>
          </a:xfrm>
          <a:prstGeom prst="ellipse">
            <a:avLst/>
          </a:prstGeom>
          <a:solidFill>
            <a:srgbClr val="F9E795"/>
          </a:solidFill>
          <a:ln/>
        </p:spPr>
      </p:sp>
      <p:sp>
        <p:nvSpPr>
          <p:cNvPr id="20" name="Text 18"/>
          <p:cNvSpPr/>
          <p:nvPr/>
        </p:nvSpPr>
        <p:spPr>
          <a:xfrm>
            <a:off x="9372600" y="214884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9372600" y="2880360"/>
            <a:ext cx="2148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Mars 2022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9372600" y="3566160"/>
            <a:ext cx="2148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DDE1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Naissance officielle de l’association Les Petits Enfants de Marie.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Notre mission, nos valeurs</a:t>
            </a:r>
            <a:endParaRPr lang="en-US" sz="3800" dirty="0"/>
          </a:p>
        </p:txBody>
      </p:sp>
      <p:sp>
        <p:nvSpPr>
          <p:cNvPr id="3" name="Shape 1"/>
          <p:cNvSpPr/>
          <p:nvPr/>
        </p:nvSpPr>
        <p:spPr>
          <a:xfrm>
            <a:off x="640080" y="1371600"/>
            <a:ext cx="10908792" cy="1234440"/>
          </a:xfrm>
          <a:prstGeom prst="roundRect">
            <a:avLst>
              <a:gd name="adj" fmla="val 8889"/>
            </a:avLst>
          </a:prstGeom>
          <a:solidFill>
            <a:srgbClr val="2F3C7E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1371600"/>
            <a:ext cx="1033272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Apporter une aide concrète à celles et ceux qui en ont le plus besoin, avec une attention particulière portée aux enfants.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640080" y="3154680"/>
            <a:ext cx="2606040" cy="2468880"/>
          </a:xfrm>
          <a:prstGeom prst="roundRect">
            <a:avLst>
              <a:gd name="adj" fmla="val 4444"/>
            </a:avLst>
          </a:prstGeom>
          <a:solidFill>
            <a:srgbClr val="F4F5FA"/>
          </a:solidFill>
          <a:ln/>
          <a:effectLst>
            <a:outerShdw sx="100000" sy="100000" kx="0" ky="0" algn="bl" rotWithShape="0" blurRad="76200" dist="25400" dir="5400000">
              <a:srgbClr val="AAAAAA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417320" y="3520440"/>
            <a:ext cx="1051560" cy="1051560"/>
          </a:xfrm>
          <a:prstGeom prst="ellipse">
            <a:avLst/>
          </a:prstGeom>
          <a:solidFill>
            <a:srgbClr val="F96167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90726" y="3793846"/>
            <a:ext cx="504749" cy="504749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40080" y="4800600"/>
            <a:ext cx="2606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Solidarité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3474720" y="3154680"/>
            <a:ext cx="2606040" cy="2468880"/>
          </a:xfrm>
          <a:prstGeom prst="roundRect">
            <a:avLst>
              <a:gd name="adj" fmla="val 4444"/>
            </a:avLst>
          </a:prstGeom>
          <a:solidFill>
            <a:srgbClr val="F4F5FA"/>
          </a:solidFill>
          <a:ln/>
          <a:effectLst>
            <a:outerShdw sx="100000" sy="100000" kx="0" ky="0" algn="bl" rotWithShape="0" blurRad="76200" dist="25400" dir="5400000">
              <a:srgbClr val="AAAAAA">
                <a:alpha val="3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251960" y="3520440"/>
            <a:ext cx="1051560" cy="1051560"/>
          </a:xfrm>
          <a:prstGeom prst="ellipse">
            <a:avLst/>
          </a:prstGeom>
          <a:solidFill>
            <a:srgbClr val="F96167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25366" y="3793846"/>
            <a:ext cx="504749" cy="504749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474720" y="4800600"/>
            <a:ext cx="2606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Partage</a:t>
            </a:r>
            <a:endParaRPr lang="en-US" sz="1800" dirty="0"/>
          </a:p>
        </p:txBody>
      </p:sp>
      <p:sp>
        <p:nvSpPr>
          <p:cNvPr id="13" name="Shape 9"/>
          <p:cNvSpPr/>
          <p:nvPr/>
        </p:nvSpPr>
        <p:spPr>
          <a:xfrm>
            <a:off x="6309360" y="3154680"/>
            <a:ext cx="2606040" cy="2468880"/>
          </a:xfrm>
          <a:prstGeom prst="roundRect">
            <a:avLst>
              <a:gd name="adj" fmla="val 4444"/>
            </a:avLst>
          </a:prstGeom>
          <a:solidFill>
            <a:srgbClr val="F4F5FA"/>
          </a:solidFill>
          <a:ln/>
          <a:effectLst>
            <a:outerShdw sx="100000" sy="100000" kx="0" ky="0" algn="bl" rotWithShape="0" blurRad="76200" dist="25400" dir="5400000">
              <a:srgbClr val="AAAAAA">
                <a:alpha val="30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7086600" y="3520440"/>
            <a:ext cx="1051560" cy="1051560"/>
          </a:xfrm>
          <a:prstGeom prst="ellipse">
            <a:avLst/>
          </a:prstGeom>
          <a:solidFill>
            <a:srgbClr val="F96167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60006" y="3793846"/>
            <a:ext cx="504749" cy="504749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309360" y="4800600"/>
            <a:ext cx="2606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Respect</a:t>
            </a:r>
            <a:endParaRPr lang="en-US" sz="1800" dirty="0"/>
          </a:p>
        </p:txBody>
      </p:sp>
      <p:sp>
        <p:nvSpPr>
          <p:cNvPr id="17" name="Shape 12"/>
          <p:cNvSpPr/>
          <p:nvPr/>
        </p:nvSpPr>
        <p:spPr>
          <a:xfrm>
            <a:off x="9144000" y="3154680"/>
            <a:ext cx="2606040" cy="2468880"/>
          </a:xfrm>
          <a:prstGeom prst="roundRect">
            <a:avLst>
              <a:gd name="adj" fmla="val 4444"/>
            </a:avLst>
          </a:prstGeom>
          <a:solidFill>
            <a:srgbClr val="F4F5FA"/>
          </a:solidFill>
          <a:ln/>
          <a:effectLst>
            <a:outerShdw sx="100000" sy="100000" kx="0" ky="0" algn="bl" rotWithShape="0" blurRad="76200" dist="25400" dir="5400000">
              <a:srgbClr val="AAAAAA">
                <a:alpha val="30000"/>
              </a:srgbClr>
            </a:outerShdw>
          </a:effectLst>
        </p:spPr>
      </p:sp>
      <p:sp>
        <p:nvSpPr>
          <p:cNvPr id="18" name="Shape 13"/>
          <p:cNvSpPr/>
          <p:nvPr/>
        </p:nvSpPr>
        <p:spPr>
          <a:xfrm>
            <a:off x="9921240" y="3520440"/>
            <a:ext cx="1051560" cy="1051560"/>
          </a:xfrm>
          <a:prstGeom prst="ellipse">
            <a:avLst/>
          </a:prstGeom>
          <a:solidFill>
            <a:srgbClr val="F96167"/>
          </a:solidFill>
          <a:ln/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94646" y="3793846"/>
            <a:ext cx="504749" cy="504749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9144000" y="4800600"/>
            <a:ext cx="2606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Amour du prochain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Nos campagnes de solidarité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640080" y="118872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A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année, au Bénin, trois grands rendez-vous rythment nos actions auprès des enfants.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3520440" cy="3931920"/>
          </a:xfrm>
          <a:prstGeom prst="roundRect">
            <a:avLst>
              <a:gd name="adj" fmla="val 3117"/>
            </a:avLst>
          </a:prstGeom>
          <a:solidFill>
            <a:srgbClr val="F4F5FA"/>
          </a:solidFill>
          <a:ln/>
          <a:effectLst>
            <a:outerShdw sx="100000" sy="100000" kx="0" ky="0" algn="bl" rotWithShape="0" blurRad="76200" dist="25400" dir="5400000">
              <a:srgbClr val="AAAAAA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851660" y="2286000"/>
            <a:ext cx="1097280" cy="1097280"/>
          </a:xfrm>
          <a:prstGeom prst="ellipse">
            <a:avLst/>
          </a:prstGeom>
          <a:solidFill>
            <a:srgbClr val="F96167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36953" y="2571293"/>
            <a:ext cx="526694" cy="52669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0080" y="3611880"/>
            <a:ext cx="3520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Noël</a:t>
            </a:r>
            <a:endParaRPr lang="en-US" sz="2100" dirty="0"/>
          </a:p>
        </p:txBody>
      </p:sp>
      <p:sp>
        <p:nvSpPr>
          <p:cNvPr id="8" name="Text 5"/>
          <p:cNvSpPr/>
          <p:nvPr/>
        </p:nvSpPr>
        <p:spPr>
          <a:xfrm>
            <a:off x="960120" y="4160520"/>
            <a:ext cx="288036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Cadeaux, vêtements, fournitures et denrées distribués aux enfants des orphelinats, pour vivre cette période dans la joie et la dignité.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4334256" y="1920240"/>
            <a:ext cx="3520440" cy="3931920"/>
          </a:xfrm>
          <a:prstGeom prst="roundRect">
            <a:avLst>
              <a:gd name="adj" fmla="val 3117"/>
            </a:avLst>
          </a:prstGeom>
          <a:solidFill>
            <a:srgbClr val="F4F5FA"/>
          </a:solidFill>
          <a:ln/>
          <a:effectLst>
            <a:outerShdw sx="100000" sy="100000" kx="0" ky="0" algn="bl" rotWithShape="0" blurRad="76200" dist="25400" dir="5400000">
              <a:srgbClr val="AAAAAA">
                <a:alpha val="3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5545836" y="2286000"/>
            <a:ext cx="1097280" cy="1097280"/>
          </a:xfrm>
          <a:prstGeom prst="ellipse">
            <a:avLst/>
          </a:prstGeom>
          <a:solidFill>
            <a:srgbClr val="2F3C7E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31129" y="2571293"/>
            <a:ext cx="526694" cy="52669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334256" y="3611880"/>
            <a:ext cx="3520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Pâques</a:t>
            </a:r>
            <a:endParaRPr lang="en-US" sz="2100" dirty="0"/>
          </a:p>
        </p:txBody>
      </p:sp>
      <p:sp>
        <p:nvSpPr>
          <p:cNvPr id="13" name="Text 9"/>
          <p:cNvSpPr/>
          <p:nvPr/>
        </p:nvSpPr>
        <p:spPr>
          <a:xfrm>
            <a:off x="4654296" y="4160520"/>
            <a:ext cx="288036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Distributions de dons et moments de partage avec les enfants, pour prolonger l’élan de générosité.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8028432" y="1920240"/>
            <a:ext cx="3520440" cy="3931920"/>
          </a:xfrm>
          <a:prstGeom prst="roundRect">
            <a:avLst>
              <a:gd name="adj" fmla="val 3117"/>
            </a:avLst>
          </a:prstGeom>
          <a:solidFill>
            <a:srgbClr val="F4F5FA"/>
          </a:solidFill>
          <a:ln/>
          <a:effectLst>
            <a:outerShdw sx="100000" sy="100000" kx="0" ky="0" algn="bl" rotWithShape="0" blurRad="76200" dist="25400" dir="5400000">
              <a:srgbClr val="AAAAAA">
                <a:alpha val="3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240012" y="2286000"/>
            <a:ext cx="1097280" cy="1097280"/>
          </a:xfrm>
          <a:prstGeom prst="ellipse">
            <a:avLst/>
          </a:prstGeom>
          <a:solidFill>
            <a:srgbClr val="F96167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25305" y="2571293"/>
            <a:ext cx="526694" cy="52669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028432" y="3611880"/>
            <a:ext cx="3520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Rentrée scolaire</a:t>
            </a:r>
            <a:endParaRPr lang="en-US" sz="2100" dirty="0"/>
          </a:p>
        </p:txBody>
      </p:sp>
      <p:sp>
        <p:nvSpPr>
          <p:cNvPr id="18" name="Text 13"/>
          <p:cNvSpPr/>
          <p:nvPr/>
        </p:nvSpPr>
        <p:spPr>
          <a:xfrm>
            <a:off x="8348472" y="4160520"/>
            <a:ext cx="288036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Fournitures scolaires et vivres offerts aux enfants, pour favoriser leur accès à l’éducation.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Au-delà des campagnes</a:t>
            </a:r>
            <a:endParaRPr lang="en-US" sz="3800" dirty="0"/>
          </a:p>
        </p:txBody>
      </p:sp>
      <p:sp>
        <p:nvSpPr>
          <p:cNvPr id="3" name="Shape 1"/>
          <p:cNvSpPr/>
          <p:nvPr/>
        </p:nvSpPr>
        <p:spPr>
          <a:xfrm>
            <a:off x="640080" y="1645920"/>
            <a:ext cx="5349240" cy="4023360"/>
          </a:xfrm>
          <a:prstGeom prst="roundRect">
            <a:avLst>
              <a:gd name="adj" fmla="val 2727"/>
            </a:avLst>
          </a:prstGeom>
          <a:solidFill>
            <a:srgbClr val="F4F5FA"/>
          </a:solidFill>
          <a:ln/>
          <a:effectLst>
            <a:outerShdw sx="100000" sy="100000" kx="0" ky="0" algn="bl" rotWithShape="0" blurRad="76200" dist="25400" dir="5400000">
              <a:srgbClr val="AAAAAA">
                <a:alpha val="3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1051560" y="2057400"/>
            <a:ext cx="960120" cy="960120"/>
          </a:xfrm>
          <a:prstGeom prst="ellipse">
            <a:avLst/>
          </a:prstGeom>
          <a:solidFill>
            <a:srgbClr val="2F3C7E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01191" y="2307031"/>
            <a:ext cx="460858" cy="46085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3611880" y="2194560"/>
            <a:ext cx="2011680" cy="457200"/>
          </a:xfrm>
          <a:prstGeom prst="roundRect">
            <a:avLst>
              <a:gd name="adj" fmla="val 50000"/>
            </a:avLst>
          </a:prstGeom>
          <a:solidFill>
            <a:srgbClr val="2F3C7E"/>
          </a:solidFill>
          <a:ln/>
        </p:spPr>
      </p:sp>
      <p:sp>
        <p:nvSpPr>
          <p:cNvPr id="7" name="Text 4"/>
          <p:cNvSpPr/>
          <p:nvPr/>
        </p:nvSpPr>
        <p:spPr>
          <a:xfrm>
            <a:off x="3611880" y="219456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 Bénin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1051560" y="3291840"/>
            <a:ext cx="4526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Les familles en grande difficulté</a:t>
            </a:r>
            <a:endParaRPr lang="en-US" sz="2100" dirty="0"/>
          </a:p>
        </p:txBody>
      </p:sp>
      <p:sp>
        <p:nvSpPr>
          <p:cNvPr id="9" name="Text 6"/>
          <p:cNvSpPr/>
          <p:nvPr/>
        </p:nvSpPr>
        <p:spPr>
          <a:xfrm>
            <a:off x="1051560" y="4160520"/>
            <a:ext cx="4526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Nous apportons une aide adaptée à leurs besoins essentiels : alimentation, vêtements, soutien matériel.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6199632" y="1645920"/>
            <a:ext cx="5349240" cy="4023360"/>
          </a:xfrm>
          <a:prstGeom prst="roundRect">
            <a:avLst>
              <a:gd name="adj" fmla="val 2727"/>
            </a:avLst>
          </a:prstGeom>
          <a:solidFill>
            <a:srgbClr val="F4F5FA"/>
          </a:solidFill>
          <a:ln/>
          <a:effectLst>
            <a:outerShdw sx="100000" sy="100000" kx="0" ky="0" algn="bl" rotWithShape="0" blurRad="76200" dist="25400" dir="5400000">
              <a:srgbClr val="AAAAAA">
                <a:alpha val="3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611112" y="2057400"/>
            <a:ext cx="960120" cy="960120"/>
          </a:xfrm>
          <a:prstGeom prst="ellipse">
            <a:avLst/>
          </a:prstGeom>
          <a:solidFill>
            <a:srgbClr val="F96167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60743" y="2307031"/>
            <a:ext cx="460858" cy="460858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9171432" y="2194560"/>
            <a:ext cx="2011680" cy="457200"/>
          </a:xfrm>
          <a:prstGeom prst="roundRect">
            <a:avLst>
              <a:gd name="adj" fmla="val 50000"/>
            </a:avLst>
          </a:prstGeom>
          <a:solidFill>
            <a:srgbClr val="F96167"/>
          </a:solidFill>
          <a:ln/>
        </p:spPr>
      </p:sp>
      <p:sp>
        <p:nvSpPr>
          <p:cNvPr id="14" name="Text 10"/>
          <p:cNvSpPr/>
          <p:nvPr/>
        </p:nvSpPr>
        <p:spPr>
          <a:xfrm>
            <a:off x="9171432" y="219456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France — depuis 2024</a:t>
            </a:r>
            <a:endParaRPr lang="en-US" sz="1100" dirty="0"/>
          </a:p>
        </p:txBody>
      </p:sp>
      <p:sp>
        <p:nvSpPr>
          <p:cNvPr id="15" name="Text 11"/>
          <p:cNvSpPr/>
          <p:nvPr/>
        </p:nvSpPr>
        <p:spPr>
          <a:xfrm>
            <a:off x="6611112" y="3291840"/>
            <a:ext cx="4526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Les personnes sans abri</a:t>
            </a:r>
            <a:endParaRPr lang="en-US" sz="2100" dirty="0"/>
          </a:p>
        </p:txBody>
      </p:sp>
      <p:sp>
        <p:nvSpPr>
          <p:cNvPr id="16" name="Text 12"/>
          <p:cNvSpPr/>
          <p:nvPr/>
        </p:nvSpPr>
        <p:spPr>
          <a:xfrm>
            <a:off x="6611112" y="4160520"/>
            <a:ext cx="4526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Depuis 2024, nous menons en France des distributions et des actions solidaires destinées à améliorer leur quotidien.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Notre ambition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640080" y="1188720"/>
            <a:ext cx="10881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A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Continuer à grandir pour aider plus d’enfants, soutenir plus de familles, et poursuivre nos actions auprès des personnes sans abri — avec des projets durables qui changent réellement les vies.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822960" y="2148840"/>
            <a:ext cx="914400" cy="914400"/>
          </a:xfrm>
          <a:prstGeom prst="ellipse">
            <a:avLst/>
          </a:prstGeom>
          <a:solidFill>
            <a:srgbClr val="2F3C7E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0704" y="2386584"/>
            <a:ext cx="438912" cy="43891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2011680" y="2167128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Éducation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2011680" y="2651760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Permettre à chaque enfant d’aller à l’école et d’y rester.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822960" y="3429000"/>
            <a:ext cx="914400" cy="914400"/>
          </a:xfrm>
          <a:prstGeom prst="ellipse">
            <a:avLst/>
          </a:prstGeom>
          <a:solidFill>
            <a:srgbClr val="2F3C7E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0704" y="3666744"/>
            <a:ext cx="438912" cy="43891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2011680" y="3447288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Santé</a:t>
            </a:r>
            <a:endParaRPr lang="en-US" sz="2000" dirty="0"/>
          </a:p>
        </p:txBody>
      </p:sp>
      <p:sp>
        <p:nvSpPr>
          <p:cNvPr id="11" name="Text 7"/>
          <p:cNvSpPr/>
          <p:nvPr/>
        </p:nvSpPr>
        <p:spPr>
          <a:xfrm>
            <a:off x="2011680" y="3931920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Améliorer l’accès aux soins des enfants et de leurs familles.</a:t>
            </a:r>
            <a:endParaRPr lang="en-US" sz="1400" dirty="0"/>
          </a:p>
        </p:txBody>
      </p:sp>
      <p:sp>
        <p:nvSpPr>
          <p:cNvPr id="12" name="Shape 8"/>
          <p:cNvSpPr/>
          <p:nvPr/>
        </p:nvSpPr>
        <p:spPr>
          <a:xfrm>
            <a:off x="822960" y="4709160"/>
            <a:ext cx="914400" cy="914400"/>
          </a:xfrm>
          <a:prstGeom prst="ellipse">
            <a:avLst/>
          </a:prstGeom>
          <a:solidFill>
            <a:srgbClr val="2F3C7E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0704" y="4946904"/>
            <a:ext cx="438912" cy="438912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2011680" y="4727448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Autonomie des familles</a:t>
            </a:r>
            <a:endParaRPr lang="en-US" sz="2000" dirty="0"/>
          </a:p>
        </p:txBody>
      </p:sp>
      <p:sp>
        <p:nvSpPr>
          <p:cNvPr id="15" name="Text 10"/>
          <p:cNvSpPr/>
          <p:nvPr/>
        </p:nvSpPr>
        <p:spPr>
          <a:xfrm>
            <a:off x="2011680" y="5212080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Aider les familles à construire des ressources durables.</a:t>
            </a:r>
            <a:endParaRPr lang="en-US" sz="1400" dirty="0"/>
          </a:p>
        </p:txBody>
      </p:sp>
      <p:sp>
        <p:nvSpPr>
          <p:cNvPr id="16" name="Shape 11"/>
          <p:cNvSpPr/>
          <p:nvPr/>
        </p:nvSpPr>
        <p:spPr>
          <a:xfrm>
            <a:off x="8412480" y="2148840"/>
            <a:ext cx="3108960" cy="3566160"/>
          </a:xfrm>
          <a:prstGeom prst="roundRect">
            <a:avLst>
              <a:gd name="adj" fmla="val 3529"/>
            </a:avLst>
          </a:prstGeom>
          <a:solidFill>
            <a:srgbClr val="2F3C7E"/>
          </a:solidFill>
          <a:ln/>
        </p:spPr>
      </p:sp>
      <p:sp>
        <p:nvSpPr>
          <p:cNvPr id="17" name="Text 12"/>
          <p:cNvSpPr/>
          <p:nvPr/>
        </p:nvSpPr>
        <p:spPr>
          <a:xfrm>
            <a:off x="8686800" y="2468880"/>
            <a:ext cx="25603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i="1" dirty="0">
                <a:solidFill>
                  <a:srgbClr val="F9E79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« Parce que chaque geste compte »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8686800" y="3749040"/>
            <a:ext cx="256032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DDE1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D’une aide ponctuelle vers un véritable changement durable dans la vie des bénéficiaires.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2F3C7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149840" y="-1463040"/>
            <a:ext cx="4023360" cy="4023360"/>
          </a:xfrm>
          <a:prstGeom prst="ellipse">
            <a:avLst/>
          </a:prstGeom>
          <a:solidFill>
            <a:srgbClr val="242E63"/>
          </a:solidFill>
          <a:ln/>
        </p:spPr>
      </p:sp>
      <p:sp>
        <p:nvSpPr>
          <p:cNvPr id="3" name="Shape 1"/>
          <p:cNvSpPr/>
          <p:nvPr/>
        </p:nvSpPr>
        <p:spPr>
          <a:xfrm>
            <a:off x="-1645920" y="4846320"/>
            <a:ext cx="4206240" cy="4206240"/>
          </a:xfrm>
          <a:prstGeom prst="ellipse">
            <a:avLst/>
          </a:prstGeom>
          <a:solidFill>
            <a:srgbClr val="242E63"/>
          </a:solidFill>
          <a:ln/>
        </p:spPr>
      </p:sp>
      <p:sp>
        <p:nvSpPr>
          <p:cNvPr id="4" name="Text 2"/>
          <p:cNvSpPr/>
          <p:nvPr/>
        </p:nvSpPr>
        <p:spPr>
          <a:xfrm>
            <a:off x="1097280" y="1188720"/>
            <a:ext cx="9994392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i="1" dirty="0">
                <a:solidFill>
                  <a:srgbClr val="F9E79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« Seul, on peut faire un geste.</a:t>
            </a:r>
            <a:endParaRPr lang="en-US" sz="3000" dirty="0"/>
          </a:p>
          <a:p>
            <a:pPr algn="ctr" indent="0" marL="0">
              <a:buNone/>
            </a:pPr>
            <a:r>
              <a:rPr lang="en-US" sz="3000" b="1" i="1" dirty="0">
                <a:solidFill>
                  <a:srgbClr val="F9E79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Ensemble, nous pouvons changer des vies. »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2990088" y="3063240"/>
            <a:ext cx="914400" cy="914400"/>
          </a:xfrm>
          <a:prstGeom prst="ellipse">
            <a:avLst/>
          </a:prstGeom>
          <a:solidFill>
            <a:srgbClr val="F96167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27832" y="3300984"/>
            <a:ext cx="438912" cy="43891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212848" y="406908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Nos bénévoles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5641848" y="3063240"/>
            <a:ext cx="914400" cy="914400"/>
          </a:xfrm>
          <a:prstGeom prst="ellipse">
            <a:avLst/>
          </a:prstGeom>
          <a:solidFill>
            <a:srgbClr val="F96167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79592" y="3300984"/>
            <a:ext cx="438912" cy="43891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864608" y="406908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Nos donateurs</a:t>
            </a:r>
            <a:endParaRPr lang="en-US" sz="1500" dirty="0"/>
          </a:p>
        </p:txBody>
      </p:sp>
      <p:sp>
        <p:nvSpPr>
          <p:cNvPr id="11" name="Shape 7"/>
          <p:cNvSpPr/>
          <p:nvPr/>
        </p:nvSpPr>
        <p:spPr>
          <a:xfrm>
            <a:off x="8293608" y="3063240"/>
            <a:ext cx="914400" cy="914400"/>
          </a:xfrm>
          <a:prstGeom prst="ellipse">
            <a:avLst/>
          </a:prstGeom>
          <a:solidFill>
            <a:srgbClr val="F96167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31352" y="3300984"/>
            <a:ext cx="438912" cy="438912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7516368" y="406908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Nos partenaires</a:t>
            </a:r>
            <a:endParaRPr lang="en-US" sz="1500" dirty="0"/>
          </a:p>
        </p:txBody>
      </p:sp>
      <p:sp>
        <p:nvSpPr>
          <p:cNvPr id="14" name="Text 9"/>
          <p:cNvSpPr/>
          <p:nvPr/>
        </p:nvSpPr>
        <p:spPr>
          <a:xfrm>
            <a:off x="1097280" y="5029200"/>
            <a:ext cx="999439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C9CF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Merci pour votre présence, votre confiance et votre soutien.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C9CF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C’est grâce à des personnes comme vous que cette belle aventure peut continuer.</a:t>
            </a:r>
            <a:endParaRPr lang="en-US" sz="1500" dirty="0"/>
          </a:p>
        </p:txBody>
      </p:sp>
      <p:sp>
        <p:nvSpPr>
          <p:cNvPr id="15" name="Text 10"/>
          <p:cNvSpPr/>
          <p:nvPr/>
        </p:nvSpPr>
        <p:spPr>
          <a:xfrm>
            <a:off x="1097280" y="6035040"/>
            <a:ext cx="99943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F9E79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Ariane Orou Gabe — Fondatrice de Les Petits Enfants de Marie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2026-07-23T11:51:30Z</dcterms:created>
  <dcterms:modified xsi:type="dcterms:W3CDTF">2026-07-23T11:51:30Z</dcterms:modified>
</cp:coreProperties>
</file>